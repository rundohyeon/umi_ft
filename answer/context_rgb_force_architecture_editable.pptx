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164592"/>
            <a:ext cx="11567160" cy="32918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300" b="1">
                <a:solidFill>
                  <a:srgbClr val="142F4B"/>
                </a:solidFill>
                <a:latin typeface="Aptos"/>
              </a:rPr>
              <a:t>Context-Aware State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12064"/>
            <a:ext cx="11475720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4C6680"/>
                </a:solidFill>
                <a:latin typeface="Aptos"/>
              </a:rPr>
              <a:t>Editable architecture diagram · actual forward path in train_context_rgb_force.py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1752" y="795528"/>
            <a:ext cx="1158544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" y="950976"/>
            <a:ext cx="1325880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142F4B"/>
                </a:solidFill>
                <a:latin typeface="Aptos"/>
              </a:rPr>
              <a:t>INPUT +
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" y="950976"/>
            <a:ext cx="987552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142F4B"/>
                </a:solidFill>
                <a:latin typeface="Aptos"/>
              </a:rPr>
              <a:t>INPUT
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950976"/>
            <a:ext cx="804672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142F4B"/>
                </a:solidFill>
                <a:latin typeface="Aptos"/>
              </a:rPr>
              <a:t>TRANSFORMER
LAYER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42232" y="950976"/>
            <a:ext cx="1024128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142F4B"/>
                </a:solidFill>
                <a:latin typeface="Aptos"/>
              </a:rPr>
              <a:t>LAYER 1
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950976"/>
            <a:ext cx="804672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142F4B"/>
                </a:solidFill>
                <a:latin typeface="Aptos"/>
              </a:rPr>
              <a:t>TRANSFORMER
LAYER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950976"/>
            <a:ext cx="1024128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142F4B"/>
                </a:solidFill>
                <a:latin typeface="Aptos"/>
              </a:rPr>
              <a:t>LAYER 2
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1272" y="950976"/>
            <a:ext cx="3913632" cy="33832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930" b="1">
                <a:solidFill>
                  <a:srgbClr val="142F4B"/>
                </a:solidFill>
                <a:latin typeface="Aptos"/>
              </a:rPr>
              <a:t>STATE PREDICTION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1426464"/>
            <a:ext cx="1325880" cy="1444752"/>
          </a:xfrm>
          <a:prstGeom prst="roundRect">
            <a:avLst/>
          </a:prstGeom>
          <a:solidFill>
            <a:srgbClr val="E4F8F2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42F4B"/>
                </a:solidFill>
                <a:latin typeface="Aptos"/>
              </a:rPr>
              <a:t>Two RGB frames</a:t>
            </a:r>
          </a:p>
          <a:p>
            <a:pPr algn="ctr">
              <a:spcBef>
                <a:spcPts val="200"/>
              </a:spcBef>
            </a:pPr>
            <a:r>
              <a:rPr sz="919">
                <a:solidFill>
                  <a:srgbClr val="142F4B"/>
                </a:solidFill>
                <a:latin typeface="Aptos"/>
              </a:rPr>
              <a:t>(t−3, t)
Frozen CLIP + RGB projection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980944"/>
            <a:ext cx="1325880" cy="667512"/>
          </a:xfrm>
          <a:prstGeom prst="roundRect">
            <a:avLst/>
          </a:prstGeom>
          <a:solidFill>
            <a:srgbClr val="E5F2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42F4B"/>
                </a:solidFill>
                <a:latin typeface="Aptos"/>
              </a:rPr>
              <a:t>Left F/T</a:t>
            </a:r>
          </a:p>
          <a:p>
            <a:pPr algn="ctr">
              <a:spcBef>
                <a:spcPts val="200"/>
              </a:spcBef>
            </a:pPr>
            <a:r>
              <a:rPr sz="919">
                <a:solidFill>
                  <a:srgbClr val="142F4B"/>
                </a:solidFill>
                <a:latin typeface="Aptos"/>
              </a:rPr>
              <a:t>[41, 6]
Causal F/T CNN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" y="3758183"/>
            <a:ext cx="1325880" cy="667512"/>
          </a:xfrm>
          <a:prstGeom prst="roundRect">
            <a:avLst/>
          </a:prstGeom>
          <a:solidFill>
            <a:srgbClr val="E5F2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42F4B"/>
                </a:solidFill>
                <a:latin typeface="Aptos"/>
              </a:rPr>
              <a:t>Right F/T</a:t>
            </a:r>
          </a:p>
          <a:p>
            <a:pPr algn="ctr">
              <a:spcBef>
                <a:spcPts val="200"/>
              </a:spcBef>
            </a:pPr>
            <a:r>
              <a:rPr sz="919">
                <a:solidFill>
                  <a:srgbClr val="142F4B"/>
                </a:solidFill>
                <a:latin typeface="Aptos"/>
              </a:rPr>
              <a:t>[41, 6]
Causal F/T CNN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" y="4535424"/>
            <a:ext cx="1325880" cy="667512"/>
          </a:xfrm>
          <a:prstGeom prst="roundRect">
            <a:avLst/>
          </a:prstGeom>
          <a:solidFill>
            <a:srgbClr val="F1ED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00" b="1">
                <a:solidFill>
                  <a:srgbClr val="142F4B"/>
                </a:solidFill>
                <a:latin typeface="Aptos"/>
              </a:rPr>
              <a:t>Query [0, 0, …]</a:t>
            </a:r>
          </a:p>
          <a:p>
            <a:pPr algn="ctr">
              <a:spcBef>
                <a:spcPts val="200"/>
              </a:spcBef>
            </a:pPr>
            <a:r>
              <a:rPr sz="919">
                <a:solidFill>
                  <a:srgbClr val="142F4B"/>
                </a:solidFill>
                <a:latin typeface="Aptos"/>
              </a:rPr>
              <a:t>Trainable parameter
128-D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10512" y="1426464"/>
            <a:ext cx="987552" cy="667512"/>
          </a:xfrm>
          <a:prstGeom prst="roundRect">
            <a:avLst/>
          </a:prstGeom>
          <a:solidFill>
            <a:srgbClr val="E4F8F2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30" b="1">
                <a:solidFill>
                  <a:srgbClr val="142F4B"/>
                </a:solidFill>
                <a:latin typeface="Aptos"/>
              </a:rPr>
              <a:t>Previous RGB</a:t>
            </a:r>
          </a:p>
          <a:p>
            <a:pPr algn="ctr">
              <a:spcBef>
                <a:spcPts val="200"/>
              </a:spcBef>
            </a:pPr>
            <a:r>
              <a:rPr sz="830">
                <a:solidFill>
                  <a:srgbClr val="142F4B"/>
                </a:solidFill>
                <a:latin typeface="Aptos"/>
              </a:rPr>
              <a:t>128-D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10512" y="2203704"/>
            <a:ext cx="987552" cy="667512"/>
          </a:xfrm>
          <a:prstGeom prst="roundRect">
            <a:avLst/>
          </a:prstGeom>
          <a:solidFill>
            <a:srgbClr val="E4F8F2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30" b="1">
                <a:solidFill>
                  <a:srgbClr val="142F4B"/>
                </a:solidFill>
                <a:latin typeface="Aptos"/>
              </a:rPr>
              <a:t>Current RGB</a:t>
            </a:r>
          </a:p>
          <a:p>
            <a:pPr algn="ctr">
              <a:spcBef>
                <a:spcPts val="200"/>
              </a:spcBef>
            </a:pPr>
            <a:r>
              <a:rPr sz="830">
                <a:solidFill>
                  <a:srgbClr val="142F4B"/>
                </a:solidFill>
                <a:latin typeface="Aptos"/>
              </a:rPr>
              <a:t>128-D token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10512" y="2980944"/>
            <a:ext cx="987552" cy="667512"/>
          </a:xfrm>
          <a:prstGeom prst="roundRect">
            <a:avLst/>
          </a:prstGeom>
          <a:solidFill>
            <a:srgbClr val="E5F2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30" b="1">
                <a:solidFill>
                  <a:srgbClr val="142F4B"/>
                </a:solidFill>
                <a:latin typeface="Aptos"/>
              </a:rPr>
              <a:t>Left Force</a:t>
            </a:r>
          </a:p>
          <a:p>
            <a:pPr algn="ctr">
              <a:spcBef>
                <a:spcPts val="200"/>
              </a:spcBef>
            </a:pPr>
            <a:r>
              <a:rPr sz="830">
                <a:solidFill>
                  <a:srgbClr val="142F4B"/>
                </a:solidFill>
                <a:latin typeface="Aptos"/>
              </a:rPr>
              <a:t>128-D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10512" y="3758183"/>
            <a:ext cx="987552" cy="667512"/>
          </a:xfrm>
          <a:prstGeom prst="roundRect">
            <a:avLst/>
          </a:prstGeom>
          <a:solidFill>
            <a:srgbClr val="E5F2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30" b="1">
                <a:solidFill>
                  <a:srgbClr val="142F4B"/>
                </a:solidFill>
                <a:latin typeface="Aptos"/>
              </a:rPr>
              <a:t>Right Force</a:t>
            </a:r>
          </a:p>
          <a:p>
            <a:pPr algn="ctr">
              <a:spcBef>
                <a:spcPts val="200"/>
              </a:spcBef>
            </a:pPr>
            <a:r>
              <a:rPr sz="830">
                <a:solidFill>
                  <a:srgbClr val="142F4B"/>
                </a:solidFill>
                <a:latin typeface="Aptos"/>
              </a:rPr>
              <a:t>128-D token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10512" y="4535424"/>
            <a:ext cx="987552" cy="667512"/>
          </a:xfrm>
          <a:prstGeom prst="roundRect">
            <a:avLst/>
          </a:prstGeom>
          <a:solidFill>
            <a:srgbClr val="F1ED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030" b="1">
                <a:solidFill>
                  <a:srgbClr val="142F4B"/>
                </a:solidFill>
                <a:latin typeface="Aptos"/>
              </a:rPr>
              <a:t>Query</a:t>
            </a:r>
          </a:p>
          <a:p>
            <a:pPr algn="ctr">
              <a:spcBef>
                <a:spcPts val="200"/>
              </a:spcBef>
            </a:pPr>
            <a:r>
              <a:rPr sz="830">
                <a:solidFill>
                  <a:srgbClr val="142F4B"/>
                </a:solidFill>
                <a:latin typeface="Aptos"/>
              </a:rPr>
              <a:t>128-D token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1746504"/>
            <a:ext cx="256032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1737360" y="1705356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1554480" y="1746504"/>
            <a:ext cx="128016" cy="77724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1641348" y="2450592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1554480" y="3300984"/>
            <a:ext cx="256032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1737360" y="3259836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1554480" y="4078223"/>
            <a:ext cx="256032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1737360" y="4037075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554480" y="4855464"/>
            <a:ext cx="256032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1737360" y="4814316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63240" y="1399032"/>
            <a:ext cx="804672" cy="385876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200" b="1">
                <a:solidFill>
                  <a:srgbClr val="142F4B"/>
                </a:solidFill>
                <a:latin typeface="Aptos"/>
              </a:rPr>
              <a:t>Transformer
Layer 1</a:t>
            </a:r>
          </a:p>
          <a:p>
            <a:pPr algn="ctr">
              <a:spcBef>
                <a:spcPts val="200"/>
              </a:spcBef>
            </a:pPr>
            <a:r>
              <a:rPr sz="880">
                <a:solidFill>
                  <a:srgbClr val="142F4B"/>
                </a:solidFill>
                <a:latin typeface="Aptos"/>
              </a:rPr>
              <a:t>Causal attention
+ feed-forward
5 tokens in
5 tokens out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1399032"/>
            <a:ext cx="804672" cy="385876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200" b="1">
                <a:solidFill>
                  <a:srgbClr val="142F4B"/>
                </a:solidFill>
                <a:latin typeface="Aptos"/>
              </a:rPr>
              <a:t>Transformer
Layer 2</a:t>
            </a:r>
          </a:p>
          <a:p>
            <a:pPr algn="ctr">
              <a:spcBef>
                <a:spcPts val="200"/>
              </a:spcBef>
            </a:pPr>
            <a:r>
              <a:rPr sz="880">
                <a:solidFill>
                  <a:srgbClr val="142F4B"/>
                </a:solidFill>
                <a:latin typeface="Aptos"/>
              </a:rPr>
              <a:t>Causal attention
+ feed-forward
5 tokens in
5 tokens out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98064" y="1755648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2990088" y="171450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2798064" y="2532888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Isosceles Triangle 35"/>
          <p:cNvSpPr/>
          <p:nvPr/>
        </p:nvSpPr>
        <p:spPr>
          <a:xfrm rot="5400000">
            <a:off x="2990088" y="249174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2798064" y="3310127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5400000">
            <a:off x="2990088" y="3268979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2798064" y="4087368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Isosceles Triangle 39"/>
          <p:cNvSpPr/>
          <p:nvPr/>
        </p:nvSpPr>
        <p:spPr>
          <a:xfrm rot="5400000">
            <a:off x="2990088" y="404622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798064" y="4864608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2990088" y="482346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42232" y="1426464"/>
            <a:ext cx="1024128" cy="667512"/>
          </a:xfrm>
          <a:prstGeom prst="roundRect">
            <a:avLst/>
          </a:prstGeom>
          <a:solidFill>
            <a:srgbClr val="E4F8F2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Previous RGB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1 token
128-D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42232" y="2203704"/>
            <a:ext cx="1024128" cy="667512"/>
          </a:xfrm>
          <a:prstGeom prst="roundRect">
            <a:avLst/>
          </a:prstGeom>
          <a:solidFill>
            <a:srgbClr val="E4F8F2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Current RGB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1 token
128-D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42232" y="2980944"/>
            <a:ext cx="1024128" cy="667512"/>
          </a:xfrm>
          <a:prstGeom prst="roundRect">
            <a:avLst/>
          </a:prstGeom>
          <a:solidFill>
            <a:srgbClr val="E5F2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Left Force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1 token
128-D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42232" y="3758183"/>
            <a:ext cx="1024128" cy="667512"/>
          </a:xfrm>
          <a:prstGeom prst="roundRect">
            <a:avLst/>
          </a:prstGeom>
          <a:solidFill>
            <a:srgbClr val="E5F2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Right Force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1 token
128-D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42232" y="4535424"/>
            <a:ext cx="1024128" cy="667512"/>
          </a:xfrm>
          <a:prstGeom prst="roundRect">
            <a:avLst/>
          </a:prstGeom>
          <a:solidFill>
            <a:srgbClr val="F1ED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Query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1 token
128-D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10528" y="1426464"/>
            <a:ext cx="1024128" cy="667512"/>
          </a:xfrm>
          <a:prstGeom prst="roundRect">
            <a:avLst/>
          </a:prstGeom>
          <a:solidFill>
            <a:srgbClr val="F2F4F7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Previous RGB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2 token
128-D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10528" y="2203704"/>
            <a:ext cx="1024128" cy="667512"/>
          </a:xfrm>
          <a:prstGeom prst="roundRect">
            <a:avLst/>
          </a:prstGeom>
          <a:solidFill>
            <a:srgbClr val="F2F4F7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Current RGB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2 token
128-D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10528" y="2980944"/>
            <a:ext cx="1024128" cy="667512"/>
          </a:xfrm>
          <a:prstGeom prst="roundRect">
            <a:avLst/>
          </a:prstGeom>
          <a:solidFill>
            <a:srgbClr val="F2F4F7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Left Force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2 token
128-D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10528" y="3758183"/>
            <a:ext cx="1024128" cy="667512"/>
          </a:xfrm>
          <a:prstGeom prst="roundRect">
            <a:avLst/>
          </a:prstGeom>
          <a:solidFill>
            <a:srgbClr val="F2F4F7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Right Force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2 token
128-D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10528" y="4535424"/>
            <a:ext cx="1024128" cy="667512"/>
          </a:xfrm>
          <a:prstGeom prst="roundRect">
            <a:avLst/>
          </a:prstGeom>
          <a:solidFill>
            <a:srgbClr val="F0EB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969" b="1">
                <a:solidFill>
                  <a:srgbClr val="142F4B"/>
                </a:solidFill>
                <a:latin typeface="Aptos"/>
              </a:rPr>
              <a:t>Query</a:t>
            </a:r>
          </a:p>
          <a:p>
            <a:pPr algn="ctr">
              <a:spcBef>
                <a:spcPts val="200"/>
              </a:spcBef>
            </a:pPr>
            <a:r>
              <a:rPr sz="780">
                <a:solidFill>
                  <a:srgbClr val="142F4B"/>
                </a:solidFill>
                <a:latin typeface="Aptos"/>
              </a:rPr>
              <a:t>Layer 2 token
128-D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867912" y="1755648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 rot="5400000">
            <a:off x="4069080" y="171450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5166360" y="1755648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 rot="5400000">
            <a:off x="5367528" y="171450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6245352" y="1755648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sosceles Triangle 57"/>
          <p:cNvSpPr/>
          <p:nvPr/>
        </p:nvSpPr>
        <p:spPr>
          <a:xfrm rot="5400000">
            <a:off x="6437376" y="171450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Connector 58"/>
          <p:cNvCxnSpPr/>
          <p:nvPr/>
        </p:nvCxnSpPr>
        <p:spPr>
          <a:xfrm>
            <a:off x="3867912" y="2532888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Isosceles Triangle 59"/>
          <p:cNvSpPr/>
          <p:nvPr/>
        </p:nvSpPr>
        <p:spPr>
          <a:xfrm rot="5400000">
            <a:off x="4069080" y="249174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5166360" y="2532888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Isosceles Triangle 61"/>
          <p:cNvSpPr/>
          <p:nvPr/>
        </p:nvSpPr>
        <p:spPr>
          <a:xfrm rot="5400000">
            <a:off x="5367528" y="249174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6245352" y="2532888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Isosceles Triangle 63"/>
          <p:cNvSpPr/>
          <p:nvPr/>
        </p:nvSpPr>
        <p:spPr>
          <a:xfrm rot="5400000">
            <a:off x="6437376" y="249174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3867912" y="3310127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Isosceles Triangle 65"/>
          <p:cNvSpPr/>
          <p:nvPr/>
        </p:nvSpPr>
        <p:spPr>
          <a:xfrm rot="5400000">
            <a:off x="4069080" y="3268979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5166360" y="3310127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 rot="5400000">
            <a:off x="5367528" y="3268979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6245352" y="3310127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5400000">
            <a:off x="6437376" y="3268979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867912" y="4087368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Isosceles Triangle 71"/>
          <p:cNvSpPr/>
          <p:nvPr/>
        </p:nvSpPr>
        <p:spPr>
          <a:xfrm rot="5400000">
            <a:off x="4069080" y="404622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" name="Connector 72"/>
          <p:cNvCxnSpPr/>
          <p:nvPr/>
        </p:nvCxnSpPr>
        <p:spPr>
          <a:xfrm>
            <a:off x="5166360" y="4087368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Isosceles Triangle 73"/>
          <p:cNvSpPr/>
          <p:nvPr/>
        </p:nvSpPr>
        <p:spPr>
          <a:xfrm rot="5400000">
            <a:off x="5367528" y="404622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6245352" y="4087368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Isosceles Triangle 75"/>
          <p:cNvSpPr/>
          <p:nvPr/>
        </p:nvSpPr>
        <p:spPr>
          <a:xfrm rot="5400000">
            <a:off x="6437376" y="404622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>
            <a:off x="3867912" y="4864608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Isosceles Triangle 77"/>
          <p:cNvSpPr/>
          <p:nvPr/>
        </p:nvSpPr>
        <p:spPr>
          <a:xfrm rot="5400000">
            <a:off x="4069080" y="482346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5166360" y="4864608"/>
            <a:ext cx="27432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Isosceles Triangle 79"/>
          <p:cNvSpPr/>
          <p:nvPr/>
        </p:nvSpPr>
        <p:spPr>
          <a:xfrm rot="5400000">
            <a:off x="5367528" y="482346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6245352" y="4864608"/>
            <a:ext cx="265176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Isosceles Triangle 81"/>
          <p:cNvSpPr/>
          <p:nvPr/>
        </p:nvSpPr>
        <p:spPr>
          <a:xfrm rot="5400000">
            <a:off x="6437376" y="482346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10528" y="5367528"/>
            <a:ext cx="1024128" cy="2011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730" b="0">
                <a:solidFill>
                  <a:srgbClr val="4C6680"/>
                </a:solidFill>
                <a:latin typeface="Aptos"/>
              </a:rPr>
              <a:t>Only the final Query is read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891272" y="1399032"/>
            <a:ext cx="3794760" cy="385876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l"/>
            <a:r>
              <a:rPr sz="1300" b="1">
                <a:solidFill>
                  <a:srgbClr val="142F4B"/>
                </a:solidFill>
                <a:latin typeface="Aptos"/>
              </a:rPr>
              <a:t>State prediction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193024" y="4224528"/>
            <a:ext cx="1417320" cy="621792"/>
          </a:xfrm>
          <a:prstGeom prst="roundRect">
            <a:avLst/>
          </a:prstGeom>
          <a:solidFill>
            <a:srgbClr val="F1ED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200" b="1">
                <a:solidFill>
                  <a:srgbClr val="142F4B"/>
                </a:solidFill>
                <a:latin typeface="Aptos"/>
              </a:rPr>
              <a:t>Final Query</a:t>
            </a:r>
          </a:p>
          <a:p>
            <a:pPr algn="ctr">
              <a:spcBef>
                <a:spcPts val="200"/>
              </a:spcBef>
            </a:pPr>
            <a:r>
              <a:rPr sz="860">
                <a:solidFill>
                  <a:srgbClr val="142F4B"/>
                </a:solidFill>
                <a:latin typeface="Aptos"/>
              </a:rPr>
              <a:t>last token output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058400" y="3337560"/>
            <a:ext cx="1298448" cy="777240"/>
          </a:xfrm>
          <a:prstGeom prst="roundRect">
            <a:avLst/>
          </a:prstGeom>
          <a:solidFill>
            <a:srgbClr val="E5F2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50" b="1">
                <a:solidFill>
                  <a:srgbClr val="142F4B"/>
                </a:solidFill>
                <a:latin typeface="Aptos"/>
              </a:rPr>
              <a:t>Linear classifier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42F4B"/>
                </a:solidFill>
                <a:latin typeface="Aptos"/>
              </a:rPr>
              <a:t>128 → 4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058400" y="2322576"/>
            <a:ext cx="1298448" cy="630936"/>
          </a:xfrm>
          <a:prstGeom prst="roundRect">
            <a:avLst/>
          </a:prstGeom>
          <a:solidFill>
            <a:srgbClr val="E4F8F2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50" b="1">
                <a:solidFill>
                  <a:srgbClr val="142F4B"/>
                </a:solidFill>
                <a:latin typeface="Aptos"/>
              </a:rPr>
              <a:t>Softmax</a:t>
            </a:r>
          </a:p>
          <a:p>
            <a:pPr algn="ctr">
              <a:spcBef>
                <a:spcPts val="200"/>
              </a:spcBef>
            </a:pPr>
            <a:r>
              <a:rPr sz="860">
                <a:solidFill>
                  <a:srgbClr val="142F4B"/>
                </a:solidFill>
                <a:latin typeface="Aptos"/>
              </a:rPr>
              <a:t>class probabilities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193024" y="1572768"/>
            <a:ext cx="3163824" cy="512064"/>
          </a:xfrm>
          <a:prstGeom prst="roundRect">
            <a:avLst/>
          </a:prstGeom>
          <a:solidFill>
            <a:srgbClr val="FFEFF6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130" b="1">
                <a:solidFill>
                  <a:srgbClr val="142F4B"/>
                </a:solidFill>
                <a:latin typeface="Aptos"/>
              </a:rPr>
              <a:t>Approach  ·  Turning  ·  Recovery  ·  Error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534656" y="4864608"/>
            <a:ext cx="658368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Isosceles Triangle 89"/>
          <p:cNvSpPr/>
          <p:nvPr/>
        </p:nvSpPr>
        <p:spPr>
          <a:xfrm rot="5400000">
            <a:off x="8119872" y="482346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1" name="Connector 90"/>
          <p:cNvCxnSpPr/>
          <p:nvPr/>
        </p:nvCxnSpPr>
        <p:spPr>
          <a:xfrm flipV="1">
            <a:off x="9610344" y="4114800"/>
            <a:ext cx="1097280" cy="109728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5400000">
            <a:off x="10634472" y="4073652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 flipV="1">
            <a:off x="10707624" y="2953512"/>
            <a:ext cx="0" cy="384048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>
            <a:off x="10666476" y="2935224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Connector 94"/>
          <p:cNvCxnSpPr/>
          <p:nvPr/>
        </p:nvCxnSpPr>
        <p:spPr>
          <a:xfrm flipV="1">
            <a:off x="10707624" y="2084831"/>
            <a:ext cx="0" cy="237745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Isosceles Triangle 95"/>
          <p:cNvSpPr/>
          <p:nvPr/>
        </p:nvSpPr>
        <p:spPr>
          <a:xfrm>
            <a:off x="10666476" y="2066543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183879" y="4892040"/>
            <a:ext cx="278892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830" b="0">
                <a:solidFill>
                  <a:srgbClr val="4C6680"/>
                </a:solidFill>
                <a:latin typeface="Aptos"/>
              </a:rPr>
              <a:t>Layer 2 output[:, −1]  →  [B, 128]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28600" y="5687568"/>
            <a:ext cx="11457432" cy="713232"/>
          </a:xfrm>
          <a:prstGeom prst="roundRect">
            <a:avLst/>
          </a:prstGeom>
          <a:solidFill>
            <a:srgbClr val="F0F6FC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l"/>
            <a:r>
              <a:rPr sz="1050" b="1">
                <a:solidFill>
                  <a:srgbClr val="142F4B"/>
                </a:solidFill>
                <a:latin typeface="Aptos"/>
              </a:rPr>
              <a:t>Code-level notes</a:t>
            </a:r>
          </a:p>
          <a:p>
            <a:pPr algn="l">
              <a:spcBef>
                <a:spcPts val="200"/>
              </a:spcBef>
            </a:pPr>
            <a:r>
              <a:rPr sz="940">
                <a:solidFill>
                  <a:srgbClr val="142F4B"/>
                </a:solidFill>
                <a:latin typeface="Aptos"/>
              </a:rPr>
              <a:t>RGB: 2 frames [B, 2, 3, 224, 224]  •  F/T: [B, 41, 6] per hand → [B, 32, 18] features  •  Transformer depth: 2  •  CLIP backbone is frozen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6032" y="6473952"/>
            <a:ext cx="11338560" cy="1645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840" b="0">
                <a:solidFill>
                  <a:srgbClr val="4C6680"/>
                </a:solidFill>
                <a:latin typeface="Aptos"/>
              </a:rPr>
              <a:t>Everything on this slide is an editable PowerPoint shape or connector.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" y="164592"/>
            <a:ext cx="11567160" cy="32918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300" b="1">
                <a:solidFill>
                  <a:srgbClr val="142F4B"/>
                </a:solidFill>
                <a:latin typeface="Aptos"/>
              </a:rPr>
              <a:t>Training: How Your Labels Change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12064"/>
            <a:ext cx="11475720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50" b="0">
                <a:solidFill>
                  <a:srgbClr val="4C6680"/>
                </a:solidFill>
                <a:latin typeface="Aptos"/>
              </a:rPr>
              <a:t>Labels are targets for the loss; they are not tokens supplied to the Transformer forward input.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1752" y="795528"/>
            <a:ext cx="1158544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11480" y="1143000"/>
            <a:ext cx="2029968" cy="1234440"/>
          </a:xfrm>
          <a:prstGeom prst="roundRect">
            <a:avLst/>
          </a:prstGeom>
          <a:solidFill>
            <a:srgbClr val="E4F8F2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400" b="1">
                <a:solidFill>
                  <a:srgbClr val="142F4B"/>
                </a:solidFill>
                <a:latin typeface="Aptos"/>
              </a:rPr>
              <a:t>Your manual label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2F4B"/>
                </a:solidFill>
                <a:latin typeface="Aptos"/>
              </a:rPr>
              <a:t>Class ID: approach / turning / recovery / error
Sample weight: 1.0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743200"/>
            <a:ext cx="2029968" cy="1234440"/>
          </a:xfrm>
          <a:prstGeom prst="roundRect">
            <a:avLst/>
          </a:prstGeom>
          <a:solidFill>
            <a:srgbClr val="EBEFF3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400" b="1">
                <a:solidFill>
                  <a:srgbClr val="142F4B"/>
                </a:solidFill>
                <a:latin typeface="Aptos"/>
              </a:rPr>
              <a:t>Rule-generated label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2F4B"/>
                </a:solidFill>
                <a:latin typeface="Aptos"/>
              </a:rPr>
              <a:t>Same class ID format
Sample weight: 0.3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1920240"/>
            <a:ext cx="2121408" cy="1234440"/>
          </a:xfrm>
          <a:prstGeom prst="roundRect">
            <a:avLst/>
          </a:prstGeom>
          <a:solidFill>
            <a:srgbClr val="FFEFF6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400" b="1">
                <a:solidFill>
                  <a:srgbClr val="142F4B"/>
                </a:solidFill>
                <a:latin typeface="Aptos"/>
              </a:rPr>
              <a:t>Model prediction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142F4B"/>
                </a:solidFill>
                <a:latin typeface="Aptos"/>
              </a:rPr>
              <a:t>4 logits from the classifier
One score per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920240"/>
            <a:ext cx="2240280" cy="1234440"/>
          </a:xfrm>
          <a:prstGeom prst="roundRect">
            <a:avLst/>
          </a:prstGeom>
          <a:solidFill>
            <a:srgbClr val="FFF4C7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400" b="1">
                <a:solidFill>
                  <a:srgbClr val="142F4B"/>
                </a:solidFill>
                <a:latin typeface="Aptos"/>
              </a:rPr>
              <a:t>Weighted cross-entropy loss</a:t>
            </a:r>
          </a:p>
          <a:p>
            <a:pPr algn="ctr">
              <a:spcBef>
                <a:spcPts val="200"/>
              </a:spcBef>
            </a:pPr>
            <a:r>
              <a:rPr sz="1019">
                <a:solidFill>
                  <a:srgbClr val="142F4B"/>
                </a:solidFill>
                <a:latin typeface="Aptos"/>
              </a:rPr>
              <a:t>Label-source weight × class-balance weight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920240"/>
            <a:ext cx="2560320" cy="1234440"/>
          </a:xfrm>
          <a:prstGeom prst="roundRect">
            <a:avLst/>
          </a:prstGeom>
          <a:solidFill>
            <a:srgbClr val="F1ED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400" b="1">
                <a:solidFill>
                  <a:srgbClr val="142F4B"/>
                </a:solidFill>
                <a:latin typeface="Aptos"/>
              </a:rPr>
              <a:t>Backpropagation + AdamW</a:t>
            </a:r>
          </a:p>
          <a:p>
            <a:pPr algn="ctr">
              <a:spcBef>
                <a:spcPts val="200"/>
              </a:spcBef>
            </a:pPr>
            <a:r>
              <a:rPr sz="1019">
                <a:solidFill>
                  <a:srgbClr val="142F4B"/>
                </a:solidFill>
                <a:latin typeface="Aptos"/>
              </a:rPr>
              <a:t>Compute how each trainable weight should change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41448" y="1755648"/>
            <a:ext cx="3182112" cy="530352"/>
          </a:xfrm>
          <a:prstGeom prst="line">
            <a:avLst/>
          </a:prstGeom>
          <a:ln w="16510">
            <a:solidFill>
              <a:srgbClr val="695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5550408" y="2244852"/>
            <a:ext cx="82296" cy="82296"/>
          </a:xfrm>
          <a:prstGeom prst="triangle">
            <a:avLst/>
          </a:prstGeom>
          <a:solidFill>
            <a:srgbClr val="69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2441448" y="2487168"/>
            <a:ext cx="3182112" cy="868680"/>
          </a:xfrm>
          <a:prstGeom prst="line">
            <a:avLst/>
          </a:prstGeom>
          <a:ln w="16510">
            <a:solidFill>
              <a:srgbClr val="695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5550408" y="2446020"/>
            <a:ext cx="82296" cy="82296"/>
          </a:xfrm>
          <a:prstGeom prst="triangle">
            <a:avLst/>
          </a:prstGeom>
          <a:solidFill>
            <a:srgbClr val="69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093208" y="2532888"/>
            <a:ext cx="530352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5550408" y="249174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7863840" y="2532888"/>
            <a:ext cx="548640" cy="0"/>
          </a:xfrm>
          <a:prstGeom prst="line">
            <a:avLst/>
          </a:prstGeom>
          <a:ln w="17145">
            <a:solidFill>
              <a:srgbClr val="809C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8339327" y="2491740"/>
            <a:ext cx="82296" cy="82296"/>
          </a:xfrm>
          <a:prstGeom prst="triangle">
            <a:avLst/>
          </a:prstGeom>
          <a:solidFill>
            <a:srgbClr val="809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1296" y="1371600"/>
            <a:ext cx="1097280" cy="2103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850" b="0">
                <a:solidFill>
                  <a:srgbClr val="6950A0"/>
                </a:solidFill>
                <a:latin typeface="Aptos"/>
              </a:rPr>
              <a:t>target label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218688"/>
            <a:ext cx="1097280" cy="2103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850" b="0">
                <a:solidFill>
                  <a:srgbClr val="6950A0"/>
                </a:solidFill>
                <a:latin typeface="Aptos"/>
              </a:rPr>
              <a:t>target label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" y="4434840"/>
            <a:ext cx="11338560" cy="0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11480" y="4553712"/>
            <a:ext cx="111099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142F4B"/>
                </a:solidFill>
                <a:latin typeface="Aptos"/>
              </a:rPr>
              <a:t>Which parts are updated by backpropagation?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983480"/>
            <a:ext cx="2331720" cy="1060704"/>
          </a:xfrm>
          <a:prstGeom prst="roundRect">
            <a:avLst/>
          </a:prstGeom>
          <a:solidFill>
            <a:srgbClr val="EBEFF3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350" b="1">
                <a:solidFill>
                  <a:srgbClr val="142F4B"/>
                </a:solidFill>
                <a:latin typeface="Aptos"/>
              </a:rPr>
              <a:t>Frozen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42F4B"/>
                </a:solidFill>
                <a:latin typeface="Aptos"/>
              </a:rPr>
              <a:t>CLIP vision backbone
Its pretrained weights stay fixed.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108960" y="4983480"/>
            <a:ext cx="7863840" cy="1060704"/>
          </a:xfrm>
          <a:prstGeom prst="roundRect">
            <a:avLst/>
          </a:prstGeom>
          <a:solidFill>
            <a:srgbClr val="E5F2FF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/>
            <a:r>
              <a:rPr sz="1350" b="1">
                <a:solidFill>
                  <a:srgbClr val="142F4B"/>
                </a:solidFill>
                <a:latin typeface="Aptos"/>
              </a:rPr>
              <a:t>Trainable / updated after loss.backward()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142F4B"/>
                </a:solidFill>
                <a:latin typeface="Aptos"/>
              </a:rPr>
              <a:t>RGB projection  •  left Force CNN  •  right Force CNN  •  base Query vector
modality + position embeddings  •  Transformer layer 1  •  Transformer layer 2  •  classifier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6263640"/>
            <a:ext cx="10561320" cy="365760"/>
          </a:xfrm>
          <a:prstGeom prst="roundRect">
            <a:avLst/>
          </a:prstGeom>
          <a:solidFill>
            <a:srgbClr val="F0F6FC"/>
          </a:solidFill>
          <a:ln w="10795">
            <a:solidFill>
              <a:srgbClr val="809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l"/>
            <a:r>
              <a:rPr sz="1019" b="1">
                <a:solidFill>
                  <a:srgbClr val="142F4B"/>
                </a:solidFill>
                <a:latin typeface="Aptos"/>
              </a:rPr>
              <a:t>Important distinction</a:t>
            </a:r>
          </a:p>
          <a:p>
            <a:pPr algn="l">
              <a:spcBef>
                <a:spcPts val="200"/>
              </a:spcBef>
            </a:pPr>
            <a:r>
              <a:rPr sz="880">
                <a:solidFill>
                  <a:srgbClr val="142F4B"/>
                </a:solidFill>
                <a:latin typeface="Aptos"/>
              </a:rPr>
              <a:t>A Force token is temporary output for one sample. Backpropagation changes CNN weights, so the next sample produces a more useful token.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629400"/>
            <a:ext cx="10972800" cy="14630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810" b="0">
                <a:solidFill>
                  <a:srgbClr val="4C6680"/>
                </a:solidFill>
                <a:latin typeface="Aptos"/>
              </a:rPr>
              <a:t>Class-frequency weights use the training split; the best checkpoint is selected by validation macro-F1.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