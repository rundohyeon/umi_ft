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46304"/>
            <a:ext cx="11612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3304C"/>
                </a:solidFill>
                <a:latin typeface="Aptos"/>
              </a:rPr>
              <a:t>Context-Aware State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5214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F6B86"/>
                </a:solidFill>
                <a:latin typeface="Aptos"/>
              </a:rPr>
              <a:t>Input → tokens → Transformer Layer 1 → Transformer Layer 2 → output state probabilities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" y="786384"/>
            <a:ext cx="11649456" cy="0"/>
          </a:xfrm>
          <a:prstGeom prst="line">
            <a:avLst/>
          </a:prstGeom>
          <a:ln w="10160">
            <a:solidFill>
              <a:srgbClr val="CF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2880" y="932688"/>
            <a:ext cx="10972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INPUT +
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932688"/>
            <a:ext cx="868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INPUT
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932688"/>
            <a:ext cx="603504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TRANSFORMER
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3824" y="932688"/>
            <a:ext cx="868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LAYER 1
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3" y="932688"/>
            <a:ext cx="603504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TRANSFORMER
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932688"/>
            <a:ext cx="868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LAYER 2
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932688"/>
            <a:ext cx="29718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READ FINAL QUERY +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932688"/>
            <a:ext cx="24231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60" b="1">
                <a:solidFill>
                  <a:srgbClr val="13304C"/>
                </a:solidFill>
                <a:latin typeface="Aptos"/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353312"/>
            <a:ext cx="1097280" cy="102412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000" b="1">
                <a:solidFill>
                  <a:srgbClr val="13304C"/>
                </a:solidFill>
                <a:latin typeface="Aptos"/>
              </a:rPr>
              <a:t>2 RGB frames</a:t>
            </a:r>
          </a:p>
          <a:p>
            <a:pPr algn="ctr">
              <a:spcBef>
                <a:spcPts val="100"/>
              </a:spcBef>
            </a:pPr>
            <a:r>
              <a:rPr sz="720">
                <a:solidFill>
                  <a:srgbClr val="13304C"/>
                </a:solidFill>
                <a:latin typeface="Aptos"/>
              </a:rPr>
              <a:t>t−3 and t
Frozen CLIP + RGB projection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2450591"/>
            <a:ext cx="10972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50" b="1">
                <a:solidFill>
                  <a:srgbClr val="13304C"/>
                </a:solidFill>
                <a:latin typeface="Aptos"/>
              </a:rPr>
              <a:t>Left F/T</a:t>
            </a:r>
          </a:p>
          <a:p>
            <a:pPr algn="ctr">
              <a:spcBef>
                <a:spcPts val="100"/>
              </a:spcBef>
            </a:pPr>
            <a:r>
              <a:rPr sz="710">
                <a:solidFill>
                  <a:srgbClr val="13304C"/>
                </a:solidFill>
                <a:latin typeface="Aptos"/>
              </a:rPr>
              <a:t>[41, 6] → left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2999232"/>
            <a:ext cx="10972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50" b="1">
                <a:solidFill>
                  <a:srgbClr val="13304C"/>
                </a:solidFill>
                <a:latin typeface="Aptos"/>
              </a:rPr>
              <a:t>Right F/T</a:t>
            </a:r>
          </a:p>
          <a:p>
            <a:pPr algn="ctr">
              <a:spcBef>
                <a:spcPts val="100"/>
              </a:spcBef>
            </a:pPr>
            <a:r>
              <a:rPr sz="710">
                <a:solidFill>
                  <a:srgbClr val="13304C"/>
                </a:solidFill>
                <a:latin typeface="Aptos"/>
              </a:rPr>
              <a:t>[41, 6] → right CNN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547872"/>
            <a:ext cx="1097280" cy="475488"/>
          </a:xfrm>
          <a:prstGeom prst="roundRect">
            <a:avLst/>
          </a:prstGeom>
          <a:solidFill>
            <a:srgbClr val="F4E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19" b="1">
                <a:solidFill>
                  <a:srgbClr val="13304C"/>
                </a:solidFill>
                <a:latin typeface="Aptos"/>
              </a:rPr>
              <a:t>Query [0,0,…]</a:t>
            </a:r>
          </a:p>
          <a:p>
            <a:pPr algn="ctr">
              <a:spcBef>
                <a:spcPts val="100"/>
              </a:spcBef>
            </a:pPr>
            <a:r>
              <a:rPr sz="710">
                <a:solidFill>
                  <a:srgbClr val="13304C"/>
                </a:solidFill>
                <a:latin typeface="Aptos"/>
              </a:rPr>
              <a:t>trainable, 128-D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1353312"/>
            <a:ext cx="868680" cy="47548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Previous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input token
128-D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1901952"/>
            <a:ext cx="868680" cy="47548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Current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input token
128-D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450591"/>
            <a:ext cx="8686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Left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input token
128-D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2999232"/>
            <a:ext cx="8686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Right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input token
128-D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547872"/>
            <a:ext cx="868680" cy="475488"/>
          </a:xfrm>
          <a:prstGeom prst="roundRect">
            <a:avLst/>
          </a:prstGeom>
          <a:solidFill>
            <a:srgbClr val="F4E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Query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input token
128-D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3824" y="1353312"/>
            <a:ext cx="868680" cy="47548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Previous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L1 output
128-D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1901952"/>
            <a:ext cx="868680" cy="47548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Current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L1 output
128-D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63824" y="2450591"/>
            <a:ext cx="8686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Left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L1 output
128-D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3824" y="2999232"/>
            <a:ext cx="868680" cy="475488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Right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L1 output
128-D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63824" y="3547872"/>
            <a:ext cx="868680" cy="475488"/>
          </a:xfrm>
          <a:prstGeom prst="roundRect">
            <a:avLst/>
          </a:prstGeom>
          <a:solidFill>
            <a:srgbClr val="F4E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Query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L1 output
128-D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10328" y="1353312"/>
            <a:ext cx="868680" cy="475488"/>
          </a:xfrm>
          <a:prstGeom prst="roundRect">
            <a:avLst/>
          </a:prstGeom>
          <a:solidFill>
            <a:srgbClr val="F1F4F7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Previous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L2 output
128-D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901952"/>
            <a:ext cx="868680" cy="475488"/>
          </a:xfrm>
          <a:prstGeom prst="roundRect">
            <a:avLst/>
          </a:prstGeom>
          <a:solidFill>
            <a:srgbClr val="F1F4F7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Current RGB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L2 output
128-D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10328" y="2450591"/>
            <a:ext cx="868680" cy="475488"/>
          </a:xfrm>
          <a:prstGeom prst="roundRect">
            <a:avLst/>
          </a:prstGeom>
          <a:solidFill>
            <a:srgbClr val="F1F4F7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Left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L2 output
128-D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10328" y="2999232"/>
            <a:ext cx="868680" cy="475488"/>
          </a:xfrm>
          <a:prstGeom prst="roundRect">
            <a:avLst/>
          </a:prstGeom>
          <a:solidFill>
            <a:srgbClr val="F1F4F7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Right Force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L2 output
128-D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0328" y="3547872"/>
            <a:ext cx="868680" cy="475488"/>
          </a:xfrm>
          <a:prstGeom prst="roundRect">
            <a:avLst/>
          </a:prstGeom>
          <a:solidFill>
            <a:srgbClr val="F1EC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830" b="1">
                <a:solidFill>
                  <a:srgbClr val="13304C"/>
                </a:solidFill>
                <a:latin typeface="Aptos"/>
              </a:rPr>
              <a:t>Query</a:t>
            </a:r>
          </a:p>
          <a:p>
            <a:pPr algn="ctr">
              <a:spcBef>
                <a:spcPts val="100"/>
              </a:spcBef>
            </a:pPr>
            <a:r>
              <a:rPr sz="660">
                <a:solidFill>
                  <a:srgbClr val="13304C"/>
                </a:solidFill>
                <a:latin typeface="Aptos"/>
              </a:rPr>
              <a:t>L2 output
128-D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80160" y="159105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353312" y="155630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280160" y="1591056"/>
            <a:ext cx="73152" cy="54864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1318564" y="20756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280160" y="268833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1353312" y="26535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280160" y="323697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1353312" y="32022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280160" y="378561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1353312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23160" y="1353312"/>
            <a:ext cx="603504" cy="26700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50" b="1">
                <a:solidFill>
                  <a:srgbClr val="13304C"/>
                </a:solidFill>
                <a:latin typeface="Aptos"/>
              </a:rPr>
              <a:t>Transformer
Layer 1</a:t>
            </a:r>
          </a:p>
          <a:p>
            <a:pPr algn="ctr">
              <a:spcBef>
                <a:spcPts val="100"/>
              </a:spcBef>
            </a:pPr>
            <a:r>
              <a:rPr sz="670">
                <a:solidFill>
                  <a:srgbClr val="13304C"/>
                </a:solidFill>
                <a:latin typeface="Aptos"/>
              </a:rPr>
              <a:t>Causal attention
+ FFN
5 in
5 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9663" y="1353312"/>
            <a:ext cx="603504" cy="26700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50" b="1">
                <a:solidFill>
                  <a:srgbClr val="13304C"/>
                </a:solidFill>
                <a:latin typeface="Aptos"/>
              </a:rPr>
              <a:t>Transformer
Layer 2</a:t>
            </a:r>
          </a:p>
          <a:p>
            <a:pPr algn="ctr">
              <a:spcBef>
                <a:spcPts val="100"/>
              </a:spcBef>
            </a:pPr>
            <a:r>
              <a:rPr sz="670">
                <a:solidFill>
                  <a:srgbClr val="13304C"/>
                </a:solidFill>
                <a:latin typeface="Aptos"/>
              </a:rPr>
              <a:t>Causal attention
+ FFN
5 in
5 out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86000" y="159105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2359152" y="155630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026664" y="159105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3099816" y="155630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032504" y="1591056"/>
            <a:ext cx="137159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4105655" y="155630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4773168" y="159105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4846320" y="155630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286000" y="213969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2359152" y="210494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026664" y="213969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3099816" y="210494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032504" y="2139696"/>
            <a:ext cx="137159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4105655" y="210494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773168" y="213969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4846320" y="210494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286000" y="268833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2359152" y="26535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026664" y="268833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3099816" y="26535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032504" y="2688335"/>
            <a:ext cx="137159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4105655" y="26535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773168" y="268833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4846320" y="265358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286000" y="323697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2359152" y="32022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026664" y="323697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5400000">
            <a:off x="3099816" y="32022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032504" y="3236976"/>
            <a:ext cx="137159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4105655" y="32022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4773168" y="3236976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 rot="5400000">
            <a:off x="4846320" y="32022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286000" y="378561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 rot="5400000">
            <a:off x="2359152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3026664" y="378561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3099816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4032504" y="3785615"/>
            <a:ext cx="137159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4105655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4773168" y="378561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/>
          <p:cNvSpPr/>
          <p:nvPr/>
        </p:nvSpPr>
        <p:spPr>
          <a:xfrm rot="5400000">
            <a:off x="4846320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916168" y="3547872"/>
            <a:ext cx="1225296" cy="475488"/>
          </a:xfrm>
          <a:prstGeom prst="roundRect">
            <a:avLst/>
          </a:prstGeom>
          <a:solidFill>
            <a:srgbClr val="F4E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969" b="1">
                <a:solidFill>
                  <a:srgbClr val="13304C"/>
                </a:solidFill>
                <a:latin typeface="Aptos"/>
              </a:rPr>
              <a:t>Final Query</a:t>
            </a:r>
          </a:p>
          <a:p>
            <a:pPr algn="ctr">
              <a:spcBef>
                <a:spcPts val="100"/>
              </a:spcBef>
            </a:pPr>
            <a:r>
              <a:rPr sz="680">
                <a:solidFill>
                  <a:srgbClr val="13304C"/>
                </a:solidFill>
                <a:latin typeface="Aptos"/>
              </a:rPr>
              <a:t>Layer 2 output[:, −1]
[B, 128]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779008" y="3785615"/>
            <a:ext cx="137160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5852159" y="375086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360920" y="2971800"/>
            <a:ext cx="1188720" cy="576072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000" b="1">
                <a:solidFill>
                  <a:srgbClr val="13304C"/>
                </a:solidFill>
                <a:latin typeface="Aptos"/>
              </a:rPr>
              <a:t>Linear classifier</a:t>
            </a:r>
          </a:p>
          <a:p>
            <a:pPr algn="ctr">
              <a:spcBef>
                <a:spcPts val="100"/>
              </a:spcBef>
            </a:pPr>
            <a:r>
              <a:rPr sz="819">
                <a:solidFill>
                  <a:srgbClr val="13304C"/>
                </a:solidFill>
                <a:latin typeface="Aptos"/>
              </a:rPr>
              <a:t>128 → 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60920" y="2084831"/>
            <a:ext cx="1188720" cy="521207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000" b="1">
                <a:solidFill>
                  <a:srgbClr val="13304C"/>
                </a:solidFill>
                <a:latin typeface="Aptos"/>
              </a:rPr>
              <a:t>Softmax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13304C"/>
                </a:solidFill>
                <a:latin typeface="Aptos"/>
              </a:rPr>
              <a:t>state probabilities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7141464" y="3547872"/>
            <a:ext cx="219456" cy="237743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>
            <a:off x="7326172" y="3538728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7955279" y="2606040"/>
            <a:ext cx="0" cy="36576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>
            <a:off x="7920532" y="2596896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281160" y="1353312"/>
            <a:ext cx="2423160" cy="2852928"/>
          </a:xfrm>
          <a:prstGeom prst="roundRect">
            <a:avLst/>
          </a:prstGeom>
          <a:solidFill>
            <a:srgbClr val="DAF4EA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600" b="1">
                <a:solidFill>
                  <a:srgbClr val="13304C"/>
                </a:solidFill>
                <a:latin typeface="Aptos"/>
              </a:rPr>
              <a:t>OUTPUT: State probabilities</a:t>
            </a:r>
          </a:p>
          <a:p>
            <a:pPr algn="ctr">
              <a:spcBef>
                <a:spcPts val="100"/>
              </a:spcBef>
            </a:pPr>
            <a:r>
              <a:rPr sz="1320">
                <a:solidFill>
                  <a:srgbClr val="13304C"/>
                </a:solidFill>
                <a:latin typeface="Aptos"/>
              </a:rPr>
              <a:t>[B, 4]
Approach
Turning
Recovery
Error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549640" y="2340864"/>
            <a:ext cx="731520" cy="0"/>
          </a:xfrm>
          <a:prstGeom prst="line">
            <a:avLst/>
          </a:prstGeom>
          <a:ln w="18415">
            <a:solidFill>
              <a:srgbClr val="397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9217152" y="2306116"/>
            <a:ext cx="73152" cy="73152"/>
          </a:xfrm>
          <a:prstGeom prst="triangle">
            <a:avLst/>
          </a:prstGeom>
          <a:solidFill>
            <a:srgbClr val="39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73184" y="4315968"/>
            <a:ext cx="20574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60" b="0">
                <a:solidFill>
                  <a:srgbClr val="4F6B86"/>
                </a:solidFill>
                <a:latin typeface="Aptos"/>
              </a:rPr>
              <a:t>The predicted state is argmax(probabilities).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82880" y="4681728"/>
            <a:ext cx="11521440" cy="694944"/>
          </a:xfrm>
          <a:prstGeom prst="roundRect">
            <a:avLst/>
          </a:prstGeom>
          <a:solidFill>
            <a:srgbClr val="F1F7FD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019" b="1">
                <a:solidFill>
                  <a:srgbClr val="13304C"/>
                </a:solidFill>
                <a:latin typeface="Aptos"/>
              </a:rPr>
              <a:t>Code-level facts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13304C"/>
                </a:solidFill>
                <a:latin typeface="Aptos"/>
              </a:rPr>
              <a:t>RGB: [B, 2, 3, 224, 224]   •   each F/T history: [B, 41, 6] → [B, 32, 18]   •   two Transformer layers   •   CLIP backbone frozen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" y="5504688"/>
            <a:ext cx="115214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40" b="0">
                <a:solidFill>
                  <a:srgbClr val="4F6B86"/>
                </a:solidFill>
                <a:latin typeface="Aptos"/>
              </a:rPr>
              <a:t>All boxes, labels, and arrows are editable PowerPoint objects.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82880" y="5779008"/>
            <a:ext cx="3438144" cy="612648"/>
          </a:xfrm>
          <a:prstGeom prst="roundRect">
            <a:avLst/>
          </a:prstGeom>
          <a:solidFill>
            <a:srgbClr val="EEF1F5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100" b="1">
                <a:solidFill>
                  <a:srgbClr val="13304C"/>
                </a:solidFill>
                <a:latin typeface="Aptos"/>
              </a:rPr>
              <a:t>Frozen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13304C"/>
                </a:solidFill>
                <a:latin typeface="Aptos"/>
              </a:rPr>
              <a:t>CLIP vision backbone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822191" y="5779008"/>
            <a:ext cx="7882127" cy="612648"/>
          </a:xfrm>
          <a:prstGeom prst="roundRect">
            <a:avLst/>
          </a:prstGeom>
          <a:solidFill>
            <a:srgbClr val="FFF6CD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100" b="1">
                <a:solidFill>
                  <a:srgbClr val="13304C"/>
                </a:solidFill>
                <a:latin typeface="Aptos"/>
              </a:rPr>
              <a:t>Updated by backpropagation</a:t>
            </a:r>
          </a:p>
          <a:p>
            <a:pPr algn="ctr">
              <a:spcBef>
                <a:spcPts val="100"/>
              </a:spcBef>
            </a:pPr>
            <a:r>
              <a:rPr sz="919">
                <a:solidFill>
                  <a:srgbClr val="13304C"/>
                </a:solidFill>
                <a:latin typeface="Aptos"/>
              </a:rPr>
              <a:t>RGB projection · left/right Force CNNs · Query · Transformer layer 1 · Transformer layer 2 · 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46304"/>
            <a:ext cx="11612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3304C"/>
                </a:solidFill>
                <a:latin typeface="Aptos"/>
              </a:rPr>
              <a:t>Training Flow: Labels Become a Learning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5214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F6B86"/>
                </a:solidFill>
                <a:latin typeface="Aptos"/>
              </a:rPr>
              <a:t>The labels are used only after prediction to compute loss; they are not Transformer input tokens.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" y="786384"/>
            <a:ext cx="11649456" cy="0"/>
          </a:xfrm>
          <a:prstGeom prst="line">
            <a:avLst/>
          </a:prstGeom>
          <a:ln w="10160">
            <a:solidFill>
              <a:srgbClr val="CF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234440"/>
            <a:ext cx="2011680" cy="1115568"/>
          </a:xfrm>
          <a:prstGeom prst="roundRect">
            <a:avLst/>
          </a:prstGeom>
          <a:solidFill>
            <a:srgbClr val="E5F9F3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400" b="1">
                <a:solidFill>
                  <a:srgbClr val="13304C"/>
                </a:solidFill>
                <a:latin typeface="Aptos"/>
              </a:rPr>
              <a:t>Manual label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13304C"/>
                </a:solidFill>
                <a:latin typeface="Aptos"/>
              </a:rPr>
              <a:t>context_label: 0–3
weight = 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61488"/>
            <a:ext cx="2011680" cy="1115568"/>
          </a:xfrm>
          <a:prstGeom prst="roundRect">
            <a:avLst/>
          </a:prstGeom>
          <a:solidFill>
            <a:srgbClr val="EEF1F5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400" b="1">
                <a:solidFill>
                  <a:srgbClr val="13304C"/>
                </a:solidFill>
                <a:latin typeface="Aptos"/>
              </a:rPr>
              <a:t>Rule label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13304C"/>
                </a:solidFill>
                <a:latin typeface="Aptos"/>
              </a:rPr>
              <a:t>context_label: 0–3
weight = 0.3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993392"/>
            <a:ext cx="1920240" cy="1078992"/>
          </a:xfrm>
          <a:prstGeom prst="roundRect">
            <a:avLst/>
          </a:prstGeom>
          <a:solidFill>
            <a:srgbClr val="FFF0F6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400" b="1">
                <a:solidFill>
                  <a:srgbClr val="13304C"/>
                </a:solidFill>
                <a:latin typeface="Aptos"/>
              </a:rPr>
              <a:t>Classifier logits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13304C"/>
                </a:solidFill>
                <a:latin typeface="Aptos"/>
              </a:rPr>
              <a:t>4 scores, one per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8656" y="1993392"/>
            <a:ext cx="2212848" cy="1078992"/>
          </a:xfrm>
          <a:prstGeom prst="roundRect">
            <a:avLst/>
          </a:prstGeom>
          <a:solidFill>
            <a:srgbClr val="FFF6CD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400" b="1">
                <a:solidFill>
                  <a:srgbClr val="13304C"/>
                </a:solidFill>
                <a:latin typeface="Aptos"/>
              </a:rPr>
              <a:t>Weighted Cross-Entropy</a:t>
            </a:r>
          </a:p>
          <a:p>
            <a:pPr algn="ctr">
              <a:spcBef>
                <a:spcPts val="100"/>
              </a:spcBef>
            </a:pPr>
            <a:r>
              <a:rPr sz="1019">
                <a:solidFill>
                  <a:srgbClr val="13304C"/>
                </a:solidFill>
                <a:latin typeface="Aptos"/>
              </a:rPr>
              <a:t>source weight × class weight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93392"/>
            <a:ext cx="2395728" cy="1078992"/>
          </a:xfrm>
          <a:prstGeom prst="roundRect">
            <a:avLst/>
          </a:prstGeom>
          <a:solidFill>
            <a:srgbClr val="F4EF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400" b="1">
                <a:solidFill>
                  <a:srgbClr val="13304C"/>
                </a:solidFill>
                <a:latin typeface="Aptos"/>
              </a:rPr>
              <a:t>Backpropagation + AdamW</a:t>
            </a:r>
          </a:p>
          <a:p>
            <a:pPr algn="ctr">
              <a:spcBef>
                <a:spcPts val="100"/>
              </a:spcBef>
            </a:pPr>
            <a:r>
              <a:rPr sz="1019">
                <a:solidFill>
                  <a:srgbClr val="13304C"/>
                </a:solidFill>
                <a:latin typeface="Aptos"/>
              </a:rPr>
              <a:t>adjust trainable parameters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1792224"/>
            <a:ext cx="2871216" cy="539496"/>
          </a:xfrm>
          <a:prstGeom prst="line">
            <a:avLst/>
          </a:prstGeom>
          <a:ln w="15240">
            <a:solidFill>
              <a:srgbClr val="695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184648" y="2296972"/>
            <a:ext cx="73152" cy="73152"/>
          </a:xfrm>
          <a:prstGeom prst="triangle">
            <a:avLst/>
          </a:prstGeom>
          <a:solidFill>
            <a:srgbClr val="69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377440" y="2542032"/>
            <a:ext cx="2871216" cy="777240"/>
          </a:xfrm>
          <a:prstGeom prst="line">
            <a:avLst/>
          </a:prstGeom>
          <a:ln w="15240">
            <a:solidFill>
              <a:srgbClr val="695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184648" y="2507284"/>
            <a:ext cx="73152" cy="73152"/>
          </a:xfrm>
          <a:prstGeom prst="triangle">
            <a:avLst/>
          </a:prstGeom>
          <a:solidFill>
            <a:srgbClr val="69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773168" y="2532888"/>
            <a:ext cx="475488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5184648" y="2498140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461504" y="2532888"/>
            <a:ext cx="493775" cy="0"/>
          </a:xfrm>
          <a:prstGeom prst="line">
            <a:avLst/>
          </a:prstGeom>
          <a:ln w="14604">
            <a:solidFill>
              <a:srgbClr val="799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891271" y="2498140"/>
            <a:ext cx="73152" cy="73152"/>
          </a:xfrm>
          <a:prstGeom prst="triangle">
            <a:avLst/>
          </a:prstGeom>
          <a:solidFill>
            <a:srgbClr val="799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444752"/>
            <a:ext cx="9144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6950A0"/>
                </a:solidFill>
                <a:latin typeface="Aptos"/>
              </a:rPr>
              <a:t>target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108960"/>
            <a:ext cx="9144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6950A0"/>
                </a:solidFill>
                <a:latin typeface="Aptos"/>
              </a:rPr>
              <a:t>target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98848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3304C"/>
                </a:solidFill>
                <a:latin typeface="Aptos"/>
              </a:rPr>
              <a:t>What is changed?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956048"/>
            <a:ext cx="2331720" cy="1042415"/>
          </a:xfrm>
          <a:prstGeom prst="roundRect">
            <a:avLst/>
          </a:prstGeom>
          <a:solidFill>
            <a:srgbClr val="EEF1F5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300" b="1">
                <a:solidFill>
                  <a:srgbClr val="13304C"/>
                </a:solidFill>
                <a:latin typeface="Aptos"/>
              </a:rPr>
              <a:t>Frozen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13304C"/>
                </a:solidFill>
                <a:latin typeface="Aptos"/>
              </a:rPr>
              <a:t>CLIP vision backbone
pretrained weights do not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956048"/>
            <a:ext cx="7680960" cy="1042415"/>
          </a:xfrm>
          <a:prstGeom prst="roundRect">
            <a:avLst/>
          </a:prstGeom>
          <a:solidFill>
            <a:srgbClr val="E7F3FF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300" b="1">
                <a:solidFill>
                  <a:srgbClr val="13304C"/>
                </a:solidFill>
                <a:latin typeface="Aptos"/>
              </a:rPr>
              <a:t>Trainable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13304C"/>
                </a:solidFill>
                <a:latin typeface="Aptos"/>
              </a:rPr>
              <a:t>RGB projection · left/right Force CNNs · base Query
modality/position embedding · Transformer Layers 1 &amp; 2 · classifier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6272784"/>
            <a:ext cx="10378440" cy="384048"/>
          </a:xfrm>
          <a:prstGeom prst="roundRect">
            <a:avLst/>
          </a:prstGeom>
          <a:solidFill>
            <a:srgbClr val="F1F7FD"/>
          </a:solidFill>
          <a:ln w="10795">
            <a:solidFill>
              <a:srgbClr val="799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" rIns="50292" tIns="32004" bIns="32004"/>
          <a:lstStyle/>
          <a:p>
            <a:pPr algn="ctr"/>
            <a:r>
              <a:rPr sz="1019" b="1">
                <a:solidFill>
                  <a:srgbClr val="13304C"/>
                </a:solidFill>
                <a:latin typeface="Aptos"/>
              </a:rPr>
              <a:t>Key distinction</a:t>
            </a:r>
          </a:p>
          <a:p>
            <a:pPr algn="ctr">
              <a:spcBef>
                <a:spcPts val="100"/>
              </a:spcBef>
            </a:pPr>
            <a:r>
              <a:rPr sz="890">
                <a:solidFill>
                  <a:srgbClr val="13304C"/>
                </a:solidFill>
                <a:latin typeface="Aptos"/>
              </a:rPr>
              <a:t>Tokens are temporary per-sample values. Backpropagation updates the CNN/Transformer/projection weights that create those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