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입력 토큰 다섯 개가 1층에 들어가 갱신된 토큰 다섯 개로 나옵니다. 이 다섯 개가 모두 2층에 들어가 다시 갱신된 다섯 개로 나옵니다. 마지막 다섯 개 중 query 출력만 분류층에 사용합니다. 각 토큰은 128차원입니다. 그림의 ①, ②는 갱신 단계를 구분하는 표시입니다.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3898880" cy="594360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l">
              <a:defRPr sz="2600" b="1">
                <a:solidFill>
                  <a:srgbClr val="233247"/>
                </a:solidFill>
                <a:latin typeface="Noto Sans CJK KR"/>
              </a:defRPr>
            </a:pPr>
            <a:r>
              <a:t>사진과 힘의 정보가 두 Transformer 층을 거쳐 Query에 모이는 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941832"/>
            <a:ext cx="13716000" cy="365760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l">
              <a:defRPr sz="1800" b="0">
                <a:solidFill>
                  <a:srgbClr val="58697B"/>
                </a:solidFill>
                <a:latin typeface="Noto Sans CJK KR"/>
              </a:defRPr>
            </a:pPr>
            <a:r>
              <a:t>입력 5개 → 1층 출력 5개 → 2층 출력 5개 → 최종 Query 하나로 상태 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18488"/>
            <a:ext cx="2057400" cy="411480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900" b="1">
                <a:solidFill>
                  <a:srgbClr val="233247"/>
                </a:solidFill>
                <a:latin typeface="Noto Sans CJK KR"/>
              </a:defRPr>
            </a:pPr>
            <a:r>
              <a:t>입력 · 특징 추출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7480" y="1618488"/>
            <a:ext cx="1645920" cy="411480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900" b="1">
                <a:solidFill>
                  <a:srgbClr val="233247"/>
                </a:solidFill>
                <a:latin typeface="Noto Sans CJK KR"/>
              </a:defRPr>
            </a:pPr>
            <a:r>
              <a:t>입력 토큰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18488"/>
            <a:ext cx="1645920" cy="411480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900" b="1">
                <a:solidFill>
                  <a:srgbClr val="233247"/>
                </a:solidFill>
                <a:latin typeface="Noto Sans CJK KR"/>
              </a:defRPr>
            </a:pPr>
            <a:r>
              <a:t>1층 출력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1618488"/>
            <a:ext cx="1645920" cy="411480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900" b="1">
                <a:solidFill>
                  <a:srgbClr val="233247"/>
                </a:solidFill>
                <a:latin typeface="Noto Sans CJK KR"/>
              </a:defRPr>
            </a:pPr>
            <a:r>
              <a:t>2층 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0" y="1618488"/>
            <a:ext cx="2468880" cy="411480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900" b="1">
                <a:solidFill>
                  <a:srgbClr val="233247"/>
                </a:solidFill>
                <a:latin typeface="Noto Sans CJK KR"/>
              </a:defRPr>
            </a:pPr>
            <a:r>
              <a:t>상태 예측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377440"/>
            <a:ext cx="2057400" cy="1280160"/>
          </a:xfrm>
          <a:prstGeom prst="roundRect">
            <a:avLst>
              <a:gd name="adj" fmla="val 10000"/>
            </a:avLst>
          </a:prstGeom>
          <a:solidFill>
            <a:srgbClr val="FBE6DF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9" y="2400300"/>
            <a:ext cx="1965960" cy="123443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500" b="0">
                <a:solidFill>
                  <a:srgbClr val="233247"/>
                </a:solidFill>
                <a:latin typeface="Noto Sans CJK KR"/>
              </a:defRPr>
            </a:pPr>
            <a:r>
              <a:t>사진 2장 → CLIP</a:t>
            </a:r>
          </a:p>
          <a:p>
            <a:pPr algn="ctr">
              <a:defRPr sz="1500" b="0">
                <a:solidFill>
                  <a:srgbClr val="233247"/>
                </a:solidFill>
                <a:latin typeface="Noto Sans CJK KR"/>
              </a:defRPr>
            </a:pPr>
            <a:r>
              <a:t>+ Linear</a:t>
            </a:r>
          </a:p>
          <a:p>
            <a:pPr algn="ctr">
              <a:defRPr sz="1500" b="0">
                <a:solidFill>
                  <a:srgbClr val="233247"/>
                </a:solidFill>
                <a:latin typeface="Noto Sans CJK KR"/>
              </a:defRPr>
            </a:pPr>
            <a:r>
              <a:t>0.05초 간격 · CLIP 고정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3840480"/>
            <a:ext cx="2057400" cy="548640"/>
          </a:xfrm>
          <a:prstGeom prst="roundRect">
            <a:avLst>
              <a:gd name="adj" fmla="val 10000"/>
            </a:avLst>
          </a:prstGeom>
          <a:solidFill>
            <a:srgbClr val="DEEFF6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9" y="3863340"/>
            <a:ext cx="1965960" cy="50291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600" b="0">
                <a:solidFill>
                  <a:srgbClr val="233247"/>
                </a:solidFill>
                <a:latin typeface="Noto Sans CJK KR"/>
              </a:defRPr>
            </a:pPr>
            <a:r>
              <a:t>왼쪽 F/T → CNN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4572000"/>
            <a:ext cx="2057400" cy="548640"/>
          </a:xfrm>
          <a:prstGeom prst="roundRect">
            <a:avLst>
              <a:gd name="adj" fmla="val 10000"/>
            </a:avLst>
          </a:prstGeom>
          <a:solidFill>
            <a:srgbClr val="DEEFF6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" y="4594860"/>
            <a:ext cx="1965960" cy="50291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600" b="0">
                <a:solidFill>
                  <a:srgbClr val="233247"/>
                </a:solidFill>
                <a:latin typeface="Noto Sans CJK KR"/>
              </a:defRPr>
            </a:pPr>
            <a:r>
              <a:t>오른쪽 F/T → CNN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5303520"/>
            <a:ext cx="2057400" cy="548640"/>
          </a:xfrm>
          <a:prstGeom prst="roundRect">
            <a:avLst>
              <a:gd name="adj" fmla="val 10000"/>
            </a:avLst>
          </a:prstGeom>
          <a:solidFill>
            <a:srgbClr val="EBE3F8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59" y="5326380"/>
            <a:ext cx="1965960" cy="50291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500" b="0">
                <a:solidFill>
                  <a:srgbClr val="233247"/>
                </a:solidFill>
                <a:latin typeface="Noto Sans CJK KR"/>
              </a:defRPr>
            </a:pPr>
            <a:r>
              <a:t>학습 가능한 Query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04872" y="2651760"/>
            <a:ext cx="256032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04872" y="3383279"/>
            <a:ext cx="256032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404872" y="4114800"/>
            <a:ext cx="256032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404872" y="4846320"/>
            <a:ext cx="256032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404872" y="5577840"/>
            <a:ext cx="256032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697480" y="237744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BE6DF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2400300"/>
            <a:ext cx="1554480" cy="50291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600" b="1">
                <a:solidFill>
                  <a:srgbClr val="233247"/>
                </a:solidFill>
                <a:latin typeface="Noto Sans CJK KR"/>
              </a:defRPr>
            </a:pPr>
            <a:r>
              <a:t>이전 사진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310896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BE6DF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3131820"/>
            <a:ext cx="1554480" cy="50291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600" b="1">
                <a:solidFill>
                  <a:srgbClr val="233247"/>
                </a:solidFill>
                <a:latin typeface="Noto Sans CJK KR"/>
              </a:defRPr>
            </a:pPr>
            <a:r>
              <a:t>현재 사진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97480" y="384048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DEEFF6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3863340"/>
            <a:ext cx="1554480" cy="50291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600" b="1">
                <a:solidFill>
                  <a:srgbClr val="233247"/>
                </a:solidFill>
                <a:latin typeface="Noto Sans CJK KR"/>
              </a:defRPr>
            </a:pPr>
            <a:r>
              <a:t>왼쪽 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4572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DEEFF6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4594860"/>
            <a:ext cx="1554480" cy="50291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600" b="1">
                <a:solidFill>
                  <a:srgbClr val="233247"/>
                </a:solidFill>
                <a:latin typeface="Noto Sans CJK KR"/>
              </a:defRPr>
            </a:pPr>
            <a:r>
              <a:t>오른쪽 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530352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EBE3F8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26380"/>
            <a:ext cx="1554480" cy="50291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600" b="1">
                <a:solidFill>
                  <a:srgbClr val="233247"/>
                </a:solidFill>
                <a:latin typeface="Noto Sans CJK KR"/>
              </a:defRPr>
            </a:pPr>
            <a:r>
              <a:t>Query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6007608"/>
            <a:ext cx="1645920" cy="576072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400" b="0">
                <a:solidFill>
                  <a:srgbClr val="58697B"/>
                </a:solidFill>
                <a:latin typeface="Noto Sans CJK KR"/>
              </a:defRPr>
            </a:pPr>
            <a:r>
              <a:t>5개 토큰</a:t>
            </a:r>
          </a:p>
          <a:p>
            <a:pPr algn="ctr">
              <a:defRPr sz="1400" b="0">
                <a:solidFill>
                  <a:srgbClr val="58697B"/>
                </a:solidFill>
                <a:latin typeface="Noto Sans CJK KR"/>
              </a:defRPr>
            </a:pPr>
            <a:r>
              <a:t>각각 128개 숫자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237744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BE6DF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2400300"/>
            <a:ext cx="1554480" cy="50291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600" b="1">
                <a:solidFill>
                  <a:srgbClr val="233247"/>
                </a:solidFill>
                <a:latin typeface="Noto Sans CJK KR"/>
              </a:defRPr>
            </a:pPr>
            <a:r>
              <a:t>이전 사진 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310896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BE6DF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3131820"/>
            <a:ext cx="1554480" cy="50291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600" b="1">
                <a:solidFill>
                  <a:srgbClr val="233247"/>
                </a:solidFill>
                <a:latin typeface="Noto Sans CJK KR"/>
              </a:defRPr>
            </a:pPr>
            <a:r>
              <a:t>현재 사진 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384048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DEEFF6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3863340"/>
            <a:ext cx="1554480" cy="50291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600" b="1">
                <a:solidFill>
                  <a:srgbClr val="233247"/>
                </a:solidFill>
                <a:latin typeface="Noto Sans CJK KR"/>
              </a:defRPr>
            </a:pPr>
            <a:r>
              <a:t>왼쪽 힘 ①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572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DEEFF6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4594860"/>
            <a:ext cx="1554480" cy="50291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600" b="1">
                <a:solidFill>
                  <a:srgbClr val="233247"/>
                </a:solidFill>
                <a:latin typeface="Noto Sans CJK KR"/>
              </a:defRPr>
            </a:pPr>
            <a:r>
              <a:t>오른쪽 힘 ①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530352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EBE3F8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5326380"/>
            <a:ext cx="1554480" cy="50291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600" b="1">
                <a:solidFill>
                  <a:srgbClr val="233247"/>
                </a:solidFill>
                <a:latin typeface="Noto Sans CJK KR"/>
              </a:defRPr>
            </a:pPr>
            <a:r>
              <a:t>Query 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6007608"/>
            <a:ext cx="1645920" cy="576072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400" b="0">
                <a:solidFill>
                  <a:srgbClr val="58697B"/>
                </a:solidFill>
                <a:latin typeface="Noto Sans CJK KR"/>
              </a:defRPr>
            </a:pPr>
            <a:r>
              <a:t>5개 토큰</a:t>
            </a:r>
          </a:p>
          <a:p>
            <a:pPr algn="ctr">
              <a:defRPr sz="1400" b="0">
                <a:solidFill>
                  <a:srgbClr val="58697B"/>
                </a:solidFill>
                <a:latin typeface="Noto Sans CJK KR"/>
              </a:defRPr>
            </a:pPr>
            <a:r>
              <a:t>각각 128개 숫자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55480" y="237744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BE6DF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0" y="2400300"/>
            <a:ext cx="1554480" cy="50291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600" b="1">
                <a:solidFill>
                  <a:srgbClr val="233247"/>
                </a:solidFill>
                <a:latin typeface="Noto Sans CJK KR"/>
              </a:defRPr>
            </a:pPr>
            <a:r>
              <a:t>이전 사진 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55480" y="310896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BE6DF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0" y="3131820"/>
            <a:ext cx="1554480" cy="50291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600" b="1">
                <a:solidFill>
                  <a:srgbClr val="233247"/>
                </a:solidFill>
                <a:latin typeface="Noto Sans CJK KR"/>
              </a:defRPr>
            </a:pPr>
            <a:r>
              <a:t>현재 사진 ②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55480" y="384048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DEEFF6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0" y="3863340"/>
            <a:ext cx="1554480" cy="50291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600" b="1">
                <a:solidFill>
                  <a:srgbClr val="233247"/>
                </a:solidFill>
                <a:latin typeface="Noto Sans CJK KR"/>
              </a:defRPr>
            </a:pPr>
            <a:r>
              <a:t>왼쪽 힘 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55480" y="4572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DEEFF6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4594860"/>
            <a:ext cx="1554480" cy="50291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600" b="1">
                <a:solidFill>
                  <a:srgbClr val="233247"/>
                </a:solidFill>
                <a:latin typeface="Noto Sans CJK KR"/>
              </a:defRPr>
            </a:pPr>
            <a:r>
              <a:t>오른쪽 힘 ②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55480" y="530352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EBE3F8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0" y="5326380"/>
            <a:ext cx="1554480" cy="502919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600" b="1">
                <a:solidFill>
                  <a:srgbClr val="233247"/>
                </a:solidFill>
                <a:latin typeface="Noto Sans CJK KR"/>
              </a:defRPr>
            </a:pPr>
            <a:r>
              <a:t>Query 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55480" y="6007608"/>
            <a:ext cx="1645920" cy="576072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400" b="0">
                <a:solidFill>
                  <a:srgbClr val="58697B"/>
                </a:solidFill>
                <a:latin typeface="Noto Sans CJK KR"/>
              </a:defRPr>
            </a:pPr>
            <a:r>
              <a:t>5개 토큰</a:t>
            </a:r>
          </a:p>
          <a:p>
            <a:pPr algn="ctr">
              <a:defRPr sz="1400" b="0">
                <a:solidFill>
                  <a:srgbClr val="58697B"/>
                </a:solidFill>
                <a:latin typeface="Noto Sans CJK KR"/>
              </a:defRPr>
            </a:pPr>
            <a:r>
              <a:t>각각 128개 숫자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81728" y="2221992"/>
            <a:ext cx="1124712" cy="3822191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27448" y="2244852"/>
            <a:ext cx="1033271" cy="3776472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800" b="0">
                <a:solidFill>
                  <a:srgbClr val="233247"/>
                </a:solidFill>
                <a:latin typeface="Noto Sans CJK KR"/>
              </a:defRPr>
            </a:pPr>
          </a:p>
        </p:txBody>
      </p:sp>
      <p:sp>
        <p:nvSpPr>
          <p:cNvPr id="57" name="TextBox 56"/>
          <p:cNvSpPr txBox="1"/>
          <p:nvPr/>
        </p:nvSpPr>
        <p:spPr>
          <a:xfrm>
            <a:off x="4709160" y="3538728"/>
            <a:ext cx="1069848" cy="960120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400" b="1">
                <a:solidFill>
                  <a:srgbClr val="233247"/>
                </a:solidFill>
                <a:latin typeface="Noto Sans CJK KR"/>
              </a:defRPr>
            </a:pPr>
            <a:r>
              <a:t>트랜스포머</a:t>
            </a:r>
          </a:p>
          <a:p>
            <a:pPr algn="ctr">
              <a:defRPr sz="1400" b="1">
                <a:solidFill>
                  <a:srgbClr val="233247"/>
                </a:solidFill>
                <a:latin typeface="Noto Sans CJK KR"/>
              </a:defRPr>
            </a:pPr>
            <a:r>
              <a:t>1층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18304" y="5074920"/>
            <a:ext cx="1051560" cy="658368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200" b="0">
                <a:solidFill>
                  <a:srgbClr val="58697B"/>
                </a:solidFill>
                <a:latin typeface="Noto Sans CJK KR"/>
              </a:defRPr>
            </a:pPr>
            <a:r>
              <a:t>정보 비교</a:t>
            </a:r>
          </a:p>
          <a:p>
            <a:pPr algn="ctr">
              <a:defRPr sz="1200" b="0">
                <a:solidFill>
                  <a:srgbClr val="58697B"/>
                </a:solidFill>
                <a:latin typeface="Noto Sans CJK KR"/>
              </a:defRPr>
            </a:pPr>
            <a:r>
              <a:t>및 결합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375404" y="2651760"/>
            <a:ext cx="269748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833872" y="2651760"/>
            <a:ext cx="251460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375404" y="3383279"/>
            <a:ext cx="269748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833872" y="3383279"/>
            <a:ext cx="251460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375404" y="4114800"/>
            <a:ext cx="269748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833872" y="4114800"/>
            <a:ext cx="251460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375404" y="4846320"/>
            <a:ext cx="269748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833872" y="4846320"/>
            <a:ext cx="251460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375404" y="5577840"/>
            <a:ext cx="269748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833872" y="5577840"/>
            <a:ext cx="251460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8110727" y="2221992"/>
            <a:ext cx="1124712" cy="3822191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56448" y="2244852"/>
            <a:ext cx="1033271" cy="3776472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800" b="0">
                <a:solidFill>
                  <a:srgbClr val="233247"/>
                </a:solidFill>
                <a:latin typeface="Noto Sans CJK KR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8138159" y="3538728"/>
            <a:ext cx="1069848" cy="960120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400" b="1">
                <a:solidFill>
                  <a:srgbClr val="233247"/>
                </a:solidFill>
                <a:latin typeface="Noto Sans CJK KR"/>
              </a:defRPr>
            </a:pPr>
            <a:r>
              <a:t>트랜스포머</a:t>
            </a:r>
          </a:p>
          <a:p>
            <a:pPr algn="ctr">
              <a:defRPr sz="1400" b="1">
                <a:solidFill>
                  <a:srgbClr val="233247"/>
                </a:solidFill>
                <a:latin typeface="Noto Sans CJK KR"/>
              </a:defRPr>
            </a:pPr>
            <a:r>
              <a:t>2층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47303" y="5074920"/>
            <a:ext cx="1051560" cy="658368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200" b="0">
                <a:solidFill>
                  <a:srgbClr val="58697B"/>
                </a:solidFill>
                <a:latin typeface="Noto Sans CJK KR"/>
              </a:defRPr>
            </a:pPr>
            <a:r>
              <a:t>정보 비교</a:t>
            </a:r>
          </a:p>
          <a:p>
            <a:pPr algn="ctr">
              <a:defRPr sz="1200" b="0">
                <a:solidFill>
                  <a:srgbClr val="58697B"/>
                </a:solidFill>
                <a:latin typeface="Noto Sans CJK KR"/>
              </a:defRPr>
            </a:pPr>
            <a:r>
              <a:t>및 결합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804404" y="2651760"/>
            <a:ext cx="269748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262872" y="2651760"/>
            <a:ext cx="251460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804404" y="3383279"/>
            <a:ext cx="269748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262872" y="3383279"/>
            <a:ext cx="251460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804404" y="4114800"/>
            <a:ext cx="269748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262872" y="4114800"/>
            <a:ext cx="251460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04404" y="4846320"/>
            <a:ext cx="269748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262872" y="4846320"/>
            <a:ext cx="251460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404" y="5577840"/>
            <a:ext cx="269748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262872" y="5577840"/>
            <a:ext cx="251460" cy="0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1237976" y="5577840"/>
            <a:ext cx="521208" cy="0"/>
          </a:xfrm>
          <a:prstGeom prst="line">
            <a:avLst/>
          </a:prstGeom>
          <a:ln w="21590">
            <a:solidFill>
              <a:srgbClr val="23324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11795760" y="5193792"/>
            <a:ext cx="2468880" cy="768096"/>
          </a:xfrm>
          <a:prstGeom prst="roundRect">
            <a:avLst>
              <a:gd name="adj" fmla="val 10000"/>
            </a:avLst>
          </a:prstGeom>
          <a:solidFill>
            <a:srgbClr val="EBE3F8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841480" y="5216652"/>
            <a:ext cx="2377440" cy="722375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700" b="1">
                <a:solidFill>
                  <a:srgbClr val="233247"/>
                </a:solidFill>
                <a:latin typeface="Noto Sans CJK KR"/>
              </a:defRPr>
            </a:pPr>
            <a:r>
              <a:t>최종 Query만 선택</a:t>
            </a:r>
          </a:p>
          <a:p>
            <a:pPr algn="ctr">
              <a:defRPr sz="1700" b="1">
                <a:solidFill>
                  <a:srgbClr val="233247"/>
                </a:solidFill>
                <a:latin typeface="Noto Sans CJK KR"/>
              </a:defRPr>
            </a:pPr>
            <a:r>
              <a:t>128개 숫자</a:t>
            </a:r>
          </a:p>
        </p:txBody>
      </p:sp>
      <p:cxnSp>
        <p:nvCxnSpPr>
          <p:cNvPr id="86" name="Connector 85"/>
          <p:cNvCxnSpPr/>
          <p:nvPr/>
        </p:nvCxnSpPr>
        <p:spPr>
          <a:xfrm flipV="1">
            <a:off x="13030200" y="4800600"/>
            <a:ext cx="0" cy="356616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11795760" y="4005072"/>
            <a:ext cx="2468880" cy="758952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841480" y="4027932"/>
            <a:ext cx="2377440" cy="713231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700" b="0">
                <a:solidFill>
                  <a:srgbClr val="233247"/>
                </a:solidFill>
                <a:latin typeface="Noto Sans CJK KR"/>
              </a:defRPr>
            </a:pPr>
            <a:r>
              <a:t>Linear: 128 → 4</a:t>
            </a:r>
          </a:p>
          <a:p>
            <a:pPr algn="ctr">
              <a:defRPr sz="1700" b="0">
                <a:solidFill>
                  <a:srgbClr val="233247"/>
                </a:solidFill>
                <a:latin typeface="Noto Sans CJK KR"/>
              </a:defRPr>
            </a:pPr>
            <a:r>
              <a:t>네 상태의 점수</a:t>
            </a:r>
          </a:p>
        </p:txBody>
      </p:sp>
      <p:cxnSp>
        <p:nvCxnSpPr>
          <p:cNvPr id="89" name="Connector 88"/>
          <p:cNvCxnSpPr/>
          <p:nvPr/>
        </p:nvCxnSpPr>
        <p:spPr>
          <a:xfrm flipV="1">
            <a:off x="13030200" y="3630168"/>
            <a:ext cx="0" cy="338328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11795760" y="3090672"/>
            <a:ext cx="2468880" cy="502920"/>
          </a:xfrm>
          <a:prstGeom prst="roundRect">
            <a:avLst>
              <a:gd name="adj" fmla="val 10000"/>
            </a:avLst>
          </a:prstGeom>
          <a:solidFill>
            <a:srgbClr val="E3F1E7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841480" y="3113532"/>
            <a:ext cx="2377440" cy="457200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700" b="0">
                <a:solidFill>
                  <a:srgbClr val="233247"/>
                </a:solidFill>
                <a:latin typeface="Noto Sans CJK KR"/>
              </a:defRPr>
            </a:pPr>
            <a:r>
              <a:t>Softmax → 확률</a:t>
            </a:r>
          </a:p>
        </p:txBody>
      </p:sp>
      <p:cxnSp>
        <p:nvCxnSpPr>
          <p:cNvPr id="92" name="Connector 91"/>
          <p:cNvCxnSpPr/>
          <p:nvPr/>
        </p:nvCxnSpPr>
        <p:spPr>
          <a:xfrm flipV="1">
            <a:off x="13030200" y="2770632"/>
            <a:ext cx="0" cy="283464"/>
          </a:xfrm>
          <a:prstGeom prst="line">
            <a:avLst/>
          </a:prstGeom>
          <a:ln w="21590">
            <a:solidFill>
              <a:srgbClr val="7082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1795760" y="2212848"/>
            <a:ext cx="2468880" cy="521207"/>
          </a:xfrm>
          <a:prstGeom prst="roundRect">
            <a:avLst>
              <a:gd name="adj" fmla="val 10000"/>
            </a:avLst>
          </a:prstGeom>
          <a:solidFill>
            <a:srgbClr val="E3F1E7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41480" y="2235708"/>
            <a:ext cx="2377440" cy="475487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400" b="1">
                <a:solidFill>
                  <a:srgbClr val="233247"/>
                </a:solidFill>
                <a:latin typeface="Noto Sans CJK KR"/>
              </a:defRPr>
            </a:pPr>
            <a:r>
              <a:t>접근 / 회전 / 복구 / 오류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768328" y="6053328"/>
            <a:ext cx="2514600" cy="585216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300" b="0">
                <a:solidFill>
                  <a:srgbClr val="58697B"/>
                </a:solidFill>
                <a:latin typeface="Noto Sans CJK KR"/>
              </a:defRPr>
            </a:pPr>
            <a:r>
              <a:t>다른 4개 출력 토큰은</a:t>
            </a:r>
          </a:p>
          <a:p>
            <a:pPr algn="ctr">
              <a:defRPr sz="1300" b="0">
                <a:solidFill>
                  <a:srgbClr val="58697B"/>
                </a:solidFill>
                <a:latin typeface="Noto Sans CJK KR"/>
              </a:defRPr>
            </a:pPr>
            <a:r>
              <a:t>최종 분류층에 넣지 않음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20040" y="6053328"/>
            <a:ext cx="2057400" cy="594360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300" b="0">
                <a:solidFill>
                  <a:srgbClr val="58697B"/>
                </a:solidFill>
                <a:latin typeface="Noto Sans CJK KR"/>
              </a:defRPr>
            </a:pPr>
            <a:r>
              <a:t>F/T: 약 0.4초 기록</a:t>
            </a:r>
          </a:p>
          <a:p>
            <a:pPr algn="ctr">
              <a:defRPr sz="1300" b="0">
                <a:solidFill>
                  <a:srgbClr val="58697B"/>
                </a:solidFill>
                <a:latin typeface="Noto Sans CJK KR"/>
              </a:defRPr>
            </a:pPr>
            <a:r>
              <a:t>원본·평균·변화량 사용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20040" y="6858000"/>
            <a:ext cx="13944600" cy="566928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12700">
            <a:solidFill>
              <a:srgbClr val="C2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5759" y="6880860"/>
            <a:ext cx="13853160" cy="521207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700" b="0">
                <a:solidFill>
                  <a:srgbClr val="233247"/>
                </a:solidFill>
                <a:latin typeface="Noto Sans CJK KR"/>
              </a:defRPr>
            </a:pPr>
            <a:r>
              <a:t>①·②는 각 층에서 갱신된 특징을 뜻함  |  사진과 힘의 정보가 반영된 최종 Query로만 분류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20040" y="7543800"/>
            <a:ext cx="13944600" cy="356616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500" b="0">
                <a:solidFill>
                  <a:srgbClr val="58697B"/>
                </a:solidFill>
                <a:latin typeface="Noto Sans CJK KR"/>
              </a:defRPr>
            </a:pPr>
            <a:r>
              <a:t>학습: 현재 시점의 정답 라벨과 예측을 비교하여 오차 최소화 · Query는 정답 라벨이 아님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20040" y="7955279"/>
            <a:ext cx="13944600" cy="182880"/>
          </a:xfrm>
          <a:prstGeom prst="rect">
            <a:avLst/>
          </a:prstGeom>
          <a:noFill/>
        </p:spPr>
        <p:txBody>
          <a:bodyPr wrap="square" lIns="32004" rIns="32004" tIns="22860" bIns="22860" anchor="ctr">
            <a:spAutoFit/>
          </a:bodyPr>
          <a:lstStyle/>
          <a:p>
            <a:pPr algn="ctr">
              <a:defRPr sz="1000" b="0">
                <a:solidFill>
                  <a:srgbClr val="58697B"/>
                </a:solidFill>
                <a:latin typeface="Noto Sans CJK KR"/>
              </a:defRPr>
            </a:pPr>
            <a:r>
              <a:t>시간 기준: RGB 60 fps / F/T 100 Hz. 종류·위치 임베딩과 Transformer 내부 연산은 생략. 각 층에서의 정보 교환은 causal attention mask를 따름.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